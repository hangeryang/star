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d3d8ff0a_2_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fad3d8ff0a_2_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fad3d8ff0a_2_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ad3d8ff0a_2_2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fad3d8ff0a_2_2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fad3d8ff0a_2_2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d3d8ff0a_2_4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ad3d8ff0a_2_4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ad3d8ff0a_2_4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d3d8ff0a_2_8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ad3d8ff0a_2_8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ad3d8ff0a_2_8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d3d8ff0a_2_12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ad3d8ff0a_2_12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ad3d8ff0a_2_12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d3d8ff0a_2_15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ad3d8ff0a_2_15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ad3d8ff0a_2_15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d3d8ff0a_2_19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fad3d8ff0a_2_19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ad3d8ff0a_2_19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2098604" y="3257550"/>
            <a:ext cx="644669" cy="0"/>
          </a:xfrm>
          <a:prstGeom prst="straightConnector1">
            <a:avLst/>
          </a:prstGeom>
          <a:noFill/>
          <a:ln cap="flat" cmpd="sng" w="25400">
            <a:solidFill>
              <a:srgbClr val="DDE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" name="Google Shape;61;p15"/>
          <p:cNvCxnSpPr/>
          <p:nvPr/>
        </p:nvCxnSpPr>
        <p:spPr>
          <a:xfrm>
            <a:off x="3600546" y="3257550"/>
            <a:ext cx="596662" cy="0"/>
          </a:xfrm>
          <a:prstGeom prst="straightConnector1">
            <a:avLst/>
          </a:prstGeom>
          <a:noFill/>
          <a:ln cap="flat" cmpd="sng" w="25400">
            <a:solidFill>
              <a:srgbClr val="DDE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p15"/>
          <p:cNvCxnSpPr/>
          <p:nvPr/>
        </p:nvCxnSpPr>
        <p:spPr>
          <a:xfrm>
            <a:off x="5198503" y="3257550"/>
            <a:ext cx="596662" cy="0"/>
          </a:xfrm>
          <a:prstGeom prst="straightConnector1">
            <a:avLst/>
          </a:prstGeom>
          <a:noFill/>
          <a:ln cap="flat" cmpd="sng" w="25400">
            <a:solidFill>
              <a:srgbClr val="DDEB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p15"/>
          <p:cNvCxnSpPr/>
          <p:nvPr/>
        </p:nvCxnSpPr>
        <p:spPr>
          <a:xfrm>
            <a:off x="6666154" y="3257550"/>
            <a:ext cx="637811" cy="0"/>
          </a:xfrm>
          <a:prstGeom prst="straightConnector1">
            <a:avLst/>
          </a:prstGeom>
          <a:noFill/>
          <a:ln cap="flat" cmpd="sng" w="25400">
            <a:solidFill>
              <a:srgbClr val="DDEB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15"/>
          <p:cNvSpPr/>
          <p:nvPr/>
        </p:nvSpPr>
        <p:spPr>
          <a:xfrm>
            <a:off x="925855" y="2866644"/>
            <a:ext cx="1131600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B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Frozen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777564" y="2866644"/>
            <a:ext cx="836698" cy="768096"/>
          </a:xfrm>
          <a:prstGeom prst="roundRect">
            <a:avLst>
              <a:gd fmla="val 16667" name="adj"/>
            </a:avLst>
          </a:prstGeom>
          <a:solidFill>
            <a:srgbClr val="FFF3CA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Mix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238357" y="2866644"/>
            <a:ext cx="987578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B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Compress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Visual Rows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5829455" y="2866644"/>
            <a:ext cx="809266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BFD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7338256" y="2866644"/>
            <a:ext cx="932713" cy="768096"/>
          </a:xfrm>
          <a:prstGeom prst="roundRect">
            <a:avLst>
              <a:gd fmla="val 16667" name="adj"/>
            </a:avLst>
          </a:prstGeom>
          <a:solidFill>
            <a:srgbClr val="E7F5D8"/>
          </a:solidFill>
          <a:ln cap="flat" cmpd="sng" w="13950">
            <a:solidFill>
              <a:srgbClr val="17A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Verify +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Accept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652437" y="150876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DDEBFF"/>
                </a:solidFill>
                <a:latin typeface="Arial"/>
                <a:ea typeface="Arial"/>
                <a:cs typeface="Arial"/>
                <a:sym typeface="Arial"/>
              </a:rPr>
              <a:t>SmolVLM EAGLE3 methods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377200" y="4924044"/>
            <a:ext cx="8366983" cy="0"/>
          </a:xfrm>
          <a:prstGeom prst="straightConnector1">
            <a:avLst/>
          </a:prstGeom>
          <a:noFill/>
          <a:ln cap="flat" cmpd="sng" w="17775">
            <a:solidFill>
              <a:srgbClr val="082D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>
            <a:off x="1508800" y="2023110"/>
            <a:ext cx="857273" cy="0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" name="Google Shape;77;p16"/>
          <p:cNvCxnSpPr/>
          <p:nvPr/>
        </p:nvCxnSpPr>
        <p:spPr>
          <a:xfrm>
            <a:off x="3154764" y="2023110"/>
            <a:ext cx="651527" cy="0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p16"/>
          <p:cNvCxnSpPr/>
          <p:nvPr/>
        </p:nvCxnSpPr>
        <p:spPr>
          <a:xfrm>
            <a:off x="4629273" y="2023110"/>
            <a:ext cx="548655" cy="0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16"/>
          <p:cNvCxnSpPr/>
          <p:nvPr/>
        </p:nvCxnSpPr>
        <p:spPr>
          <a:xfrm>
            <a:off x="6069492" y="2023110"/>
            <a:ext cx="788691" cy="0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16"/>
          <p:cNvCxnSpPr/>
          <p:nvPr/>
        </p:nvCxnSpPr>
        <p:spPr>
          <a:xfrm>
            <a:off x="2825571" y="2606040"/>
            <a:ext cx="0" cy="617220"/>
          </a:xfrm>
          <a:prstGeom prst="straightConnector1">
            <a:avLst/>
          </a:prstGeom>
          <a:noFill/>
          <a:ln cap="flat" cmpd="sng" w="1905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16"/>
          <p:cNvCxnSpPr/>
          <p:nvPr/>
        </p:nvCxnSpPr>
        <p:spPr>
          <a:xfrm>
            <a:off x="5472830" y="2606040"/>
            <a:ext cx="0" cy="617220"/>
          </a:xfrm>
          <a:prstGeom prst="straightConnector1">
            <a:avLst/>
          </a:prstGeom>
          <a:noFill/>
          <a:ln cap="flat" cmpd="sng" w="1905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16"/>
          <p:cNvCxnSpPr/>
          <p:nvPr/>
        </p:nvCxnSpPr>
        <p:spPr>
          <a:xfrm>
            <a:off x="7235383" y="2606040"/>
            <a:ext cx="0" cy="617220"/>
          </a:xfrm>
          <a:prstGeom prst="straightConnector1">
            <a:avLst/>
          </a:prstGeom>
          <a:noFill/>
          <a:ln cap="flat" cmpd="sng" w="1905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16"/>
          <p:cNvSpPr/>
          <p:nvPr/>
        </p:nvSpPr>
        <p:spPr>
          <a:xfrm>
            <a:off x="651527" y="1591056"/>
            <a:ext cx="857273" cy="864108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395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text + image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366073" y="1508760"/>
            <a:ext cx="809266" cy="1028700"/>
          </a:xfrm>
          <a:prstGeom prst="roundRect">
            <a:avLst>
              <a:gd fmla="val 16667" name="adj"/>
            </a:avLst>
          </a:prstGeom>
          <a:solidFill>
            <a:srgbClr val="E6F0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Frozen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SmolVLM target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806291" y="1543050"/>
            <a:ext cx="822982" cy="960120"/>
          </a:xfrm>
          <a:prstGeom prst="roundRect">
            <a:avLst>
              <a:gd fmla="val 16667" name="adj"/>
            </a:avLst>
          </a:prstGeom>
          <a:solidFill>
            <a:srgbClr val="FFF5D6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Selected target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hidden states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177928" y="1543050"/>
            <a:ext cx="857273" cy="960120"/>
          </a:xfrm>
          <a:prstGeom prst="roundRect">
            <a:avLst>
              <a:gd fmla="val 16667" name="adj"/>
            </a:avLst>
          </a:prstGeom>
          <a:solidFill>
            <a:srgbClr val="F0F6EA"/>
          </a:solidFill>
          <a:ln cap="flat" cmpd="sng" w="13950">
            <a:solidFill>
              <a:srgbClr val="17A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Fusion /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compression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858183" y="1543050"/>
            <a:ext cx="857273" cy="960120"/>
          </a:xfrm>
          <a:prstGeom prst="roundRect">
            <a:avLst>
              <a:gd fmla="val 16667" name="adj"/>
            </a:avLst>
          </a:prstGeom>
          <a:solidFill>
            <a:srgbClr val="E8F1FF"/>
          </a:solidFill>
          <a:ln cap="flat" cmpd="sng" w="13950">
            <a:solidFill>
              <a:srgbClr val="0D4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One-layer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EAGLE draft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263200" y="3257550"/>
            <a:ext cx="1131600" cy="34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target logits zᵀ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951608" y="3257550"/>
            <a:ext cx="1028727" cy="34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draft logits zᴰ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734736" y="3257550"/>
            <a:ext cx="1028727" cy="34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17A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accept / reject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51527" y="3943350"/>
            <a:ext cx="1611673" cy="51435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1395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Training loss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CE/KD over assistant mask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37528" y="3874770"/>
            <a:ext cx="4526401" cy="5349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Updated blocks operate before or around the draft: depth fusion, branch response, visual-row routing.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400364" y="4491990"/>
            <a:ext cx="476643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Main update: keep EAGLE-style decoding shape, but feed a more predictive target-state stream.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6652437" y="150876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DDEBFF"/>
                </a:solidFill>
                <a:latin typeface="Arial"/>
                <a:ea typeface="Arial"/>
                <a:cs typeface="Arial"/>
                <a:sym typeface="Arial"/>
              </a:rPr>
              <a:t>SmolVLM EAGLE3 methods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377200" y="4924044"/>
            <a:ext cx="8366983" cy="0"/>
          </a:xfrm>
          <a:prstGeom prst="straightConnector1">
            <a:avLst/>
          </a:prstGeom>
          <a:noFill/>
          <a:ln cap="flat" cmpd="sng" w="17775">
            <a:solidFill>
              <a:srgbClr val="082D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3189055" y="1748790"/>
            <a:ext cx="630953" cy="0"/>
          </a:xfrm>
          <a:prstGeom prst="straightConnector1">
            <a:avLst/>
          </a:prstGeom>
          <a:noFill/>
          <a:ln cap="flat" cmpd="sng" w="254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3189055" y="2777490"/>
            <a:ext cx="630953" cy="0"/>
          </a:xfrm>
          <a:prstGeom prst="straightConnector1">
            <a:avLst/>
          </a:prstGeom>
          <a:noFill/>
          <a:ln cap="flat" cmpd="sng" w="254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17"/>
          <p:cNvCxnSpPr/>
          <p:nvPr/>
        </p:nvCxnSpPr>
        <p:spPr>
          <a:xfrm>
            <a:off x="3189055" y="3806190"/>
            <a:ext cx="630953" cy="0"/>
          </a:xfrm>
          <a:prstGeom prst="straightConnector1">
            <a:avLst/>
          </a:prstGeom>
          <a:noFill/>
          <a:ln cap="flat" cmpd="sng" w="254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814444" y="1748790"/>
            <a:ext cx="980720" cy="596646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17"/>
          <p:cNvCxnSpPr/>
          <p:nvPr/>
        </p:nvCxnSpPr>
        <p:spPr>
          <a:xfrm flipH="1" rot="10800000">
            <a:off x="4814444" y="2619756"/>
            <a:ext cx="980720" cy="157734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17"/>
          <p:cNvCxnSpPr/>
          <p:nvPr/>
        </p:nvCxnSpPr>
        <p:spPr>
          <a:xfrm flipH="1" rot="10800000">
            <a:off x="4814444" y="2894076"/>
            <a:ext cx="980720" cy="912114"/>
          </a:xfrm>
          <a:prstGeom prst="straightConnector1">
            <a:avLst/>
          </a:prstGeom>
          <a:noFill/>
          <a:ln cap="flat" cmpd="sng" w="215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6549565" y="2619756"/>
            <a:ext cx="685818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7818328" y="2619756"/>
            <a:ext cx="459498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17"/>
          <p:cNvSpPr/>
          <p:nvPr/>
        </p:nvSpPr>
        <p:spPr>
          <a:xfrm>
            <a:off x="699535" y="1268730"/>
            <a:ext cx="2503237" cy="2880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69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1015011" y="1371600"/>
            <a:ext cx="1906575" cy="562356"/>
          </a:xfrm>
          <a:prstGeom prst="roundRect">
            <a:avLst>
              <a:gd fmla="val 16667" name="adj"/>
            </a:avLst>
          </a:prstGeom>
          <a:solidFill>
            <a:srgbClr val="FFF3CA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Early band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L2 · L4 · L8 · L10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15011" y="2400300"/>
            <a:ext cx="1906575" cy="562356"/>
          </a:xfrm>
          <a:prstGeom prst="roundRect">
            <a:avLst>
              <a:gd fmla="val 16667" name="adj"/>
            </a:avLst>
          </a:prstGeom>
          <a:solidFill>
            <a:srgbClr val="E7F5D8"/>
          </a:solidFill>
          <a:ln cap="flat" cmpd="sng" w="13950">
            <a:solidFill>
              <a:srgbClr val="49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Middle band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L15 · L18 · L20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015011" y="3429000"/>
            <a:ext cx="1906575" cy="562356"/>
          </a:xfrm>
          <a:prstGeom prst="roundRect">
            <a:avLst>
              <a:gd fmla="val 16667" name="adj"/>
            </a:avLst>
          </a:prstGeom>
          <a:solidFill>
            <a:srgbClr val="FDE8D9"/>
          </a:solidFill>
          <a:ln cap="flat" cmpd="sng" w="13950">
            <a:solidFill>
              <a:srgbClr val="E87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Late band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L26 · L28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980720" y="4238244"/>
            <a:ext cx="190657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Frozen target layers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881731" y="1543050"/>
            <a:ext cx="857273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softmax(α₁)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881731" y="2571750"/>
            <a:ext cx="857273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softmax(α₂)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881731" y="3600450"/>
            <a:ext cx="857273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softmax(α₃)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936597" y="1988820"/>
            <a:ext cx="75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936597" y="3017520"/>
            <a:ext cx="75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936597" y="4046220"/>
            <a:ext cx="75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weighted sum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808881" y="2139696"/>
            <a:ext cx="651527" cy="3429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mᵉᵃʳˡʸ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808881" y="2482596"/>
            <a:ext cx="651527" cy="342900"/>
          </a:xfrm>
          <a:prstGeom prst="roundRect">
            <a:avLst>
              <a:gd fmla="val 16667" name="adj"/>
            </a:avLst>
          </a:prstGeom>
          <a:solidFill>
            <a:srgbClr val="49A300"/>
          </a:solidFill>
          <a:ln cap="flat" cmpd="sng" w="13950">
            <a:solidFill>
              <a:srgbClr val="49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mᵐⁱᵈ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5808881" y="2825496"/>
            <a:ext cx="651527" cy="342900"/>
          </a:xfrm>
          <a:prstGeom prst="roundRect">
            <a:avLst>
              <a:gd fmla="val 16667" name="adj"/>
            </a:avLst>
          </a:prstGeom>
          <a:solidFill>
            <a:srgbClr val="E87817"/>
          </a:solidFill>
          <a:ln cap="flat" cmpd="sng" w="13950">
            <a:solidFill>
              <a:srgbClr val="E87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mˡᵃᵗᵉ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235383" y="2180844"/>
            <a:ext cx="576087" cy="877824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3950">
            <a:solidFill>
              <a:srgbClr val="9DB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RMSNorm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concat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8284685" y="2194560"/>
            <a:ext cx="582946" cy="850392"/>
          </a:xfrm>
          <a:prstGeom prst="roundRect">
            <a:avLst>
              <a:gd fmla="val 16667" name="adj"/>
            </a:avLst>
          </a:prstGeom>
          <a:solidFill>
            <a:srgbClr val="E6F0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3H → 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520837" y="3874770"/>
            <a:ext cx="2914728" cy="4251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sₜ feeds EAGLE layer 0 with token embedding eₜ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5472830" y="4457700"/>
            <a:ext cx="300388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Updated: actual SmolVLM aux bands replace the draft’s illustrative L1–L30 ranges.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6652437" y="150876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DDEBFF"/>
                </a:solidFill>
                <a:latin typeface="Arial"/>
                <a:ea typeface="Arial"/>
                <a:cs typeface="Arial"/>
                <a:sym typeface="Arial"/>
              </a:rPr>
              <a:t>SmolVLM EAGLE3 methods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8"/>
          <p:cNvCxnSpPr/>
          <p:nvPr/>
        </p:nvCxnSpPr>
        <p:spPr>
          <a:xfrm>
            <a:off x="377200" y="4924044"/>
            <a:ext cx="8366983" cy="0"/>
          </a:xfrm>
          <a:prstGeom prst="straightConnector1">
            <a:avLst/>
          </a:prstGeom>
          <a:noFill/>
          <a:ln cap="flat" cmpd="sng" w="17775">
            <a:solidFill>
              <a:srgbClr val="082D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18"/>
          <p:cNvCxnSpPr/>
          <p:nvPr/>
        </p:nvCxnSpPr>
        <p:spPr>
          <a:xfrm>
            <a:off x="2846146" y="2091690"/>
            <a:ext cx="685818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p18"/>
          <p:cNvCxnSpPr/>
          <p:nvPr/>
        </p:nvCxnSpPr>
        <p:spPr>
          <a:xfrm>
            <a:off x="3531964" y="2091690"/>
            <a:ext cx="0" cy="672084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8"/>
          <p:cNvCxnSpPr/>
          <p:nvPr/>
        </p:nvCxnSpPr>
        <p:spPr>
          <a:xfrm flipH="1" rot="10800000">
            <a:off x="3531964" y="1693926"/>
            <a:ext cx="459498" cy="397764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p18"/>
          <p:cNvCxnSpPr/>
          <p:nvPr/>
        </p:nvCxnSpPr>
        <p:spPr>
          <a:xfrm>
            <a:off x="3531964" y="2763774"/>
            <a:ext cx="459498" cy="336042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18"/>
          <p:cNvCxnSpPr/>
          <p:nvPr/>
        </p:nvCxnSpPr>
        <p:spPr>
          <a:xfrm>
            <a:off x="6597572" y="1865376"/>
            <a:ext cx="740684" cy="569214"/>
          </a:xfrm>
          <a:prstGeom prst="straightConnector1">
            <a:avLst/>
          </a:prstGeom>
          <a:noFill/>
          <a:ln cap="flat" cmpd="sng" w="2030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18"/>
          <p:cNvCxnSpPr/>
          <p:nvPr/>
        </p:nvCxnSpPr>
        <p:spPr>
          <a:xfrm flipH="1" rot="10800000">
            <a:off x="6597572" y="2743200"/>
            <a:ext cx="740684" cy="534924"/>
          </a:xfrm>
          <a:prstGeom prst="straightConnector1">
            <a:avLst/>
          </a:prstGeom>
          <a:noFill/>
          <a:ln cap="flat" cmpd="sng" w="2030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p18"/>
          <p:cNvSpPr/>
          <p:nvPr/>
        </p:nvSpPr>
        <p:spPr>
          <a:xfrm>
            <a:off x="617236" y="1275588"/>
            <a:ext cx="3120473" cy="4251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5C64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500"/>
              <a:buFont typeface="Georgia"/>
              <a:buNone/>
            </a:pPr>
            <a:r>
              <a:rPr b="0" i="0" lang="en" sz="1500" u="none" cap="none" strike="noStrike">
                <a:solidFill>
                  <a:srgbClr val="10213B"/>
                </a:solidFill>
                <a:latin typeface="Georgia"/>
                <a:ea typeface="Georgia"/>
                <a:cs typeface="Georgia"/>
                <a:sym typeface="Georgia"/>
              </a:rPr>
              <a:t>The image shows a ____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046328" y="1124712"/>
            <a:ext cx="336051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At position t, draft predicts a plausible non-top1 token.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30953" y="2112264"/>
            <a:ext cx="493789" cy="397764"/>
          </a:xfrm>
          <a:prstGeom prst="roundRect">
            <a:avLst>
              <a:gd fmla="val 16667" name="adj"/>
            </a:avLst>
          </a:prstGeom>
          <a:solidFill>
            <a:srgbClr val="17A94B"/>
          </a:solidFill>
          <a:ln cap="flat" cmpd="sng" w="13950">
            <a:solidFill>
              <a:srgbClr val="17A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186466" y="2112264"/>
            <a:ext cx="534938" cy="397764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13950">
            <a:solidFill>
              <a:srgbClr val="CED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puppy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83128" y="2112264"/>
            <a:ext cx="534938" cy="397764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13950">
            <a:solidFill>
              <a:srgbClr val="CED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little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379789" y="2112264"/>
            <a:ext cx="425207" cy="397764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13950">
            <a:solidFill>
              <a:srgbClr val="CED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720109" y="1865376"/>
            <a:ext cx="8915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Target top-k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630953" y="2756916"/>
            <a:ext cx="493789" cy="397764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13950">
            <a:solidFill>
              <a:srgbClr val="CED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186466" y="2756916"/>
            <a:ext cx="534938" cy="397764"/>
          </a:xfrm>
          <a:prstGeom prst="roundRect">
            <a:avLst>
              <a:gd fmla="val 16667" name="adj"/>
            </a:avLst>
          </a:prstGeom>
          <a:solidFill>
            <a:srgbClr val="F4D33B"/>
          </a:solidFill>
          <a:ln cap="flat" cmpd="sng" w="13950">
            <a:solidFill>
              <a:srgbClr val="F4D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puppy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aₜ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783128" y="2756916"/>
            <a:ext cx="534938" cy="397764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13950">
            <a:solidFill>
              <a:srgbClr val="CED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little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379789" y="2756916"/>
            <a:ext cx="425207" cy="397764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13950">
            <a:solidFill>
              <a:srgbClr val="CED6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20109" y="3230118"/>
            <a:ext cx="89156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Draft top-k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20109" y="3497580"/>
            <a:ext cx="2002589" cy="411480"/>
          </a:xfrm>
          <a:prstGeom prst="roundRect">
            <a:avLst>
              <a:gd fmla="val 16667" name="adj"/>
            </a:avLst>
          </a:prstGeom>
          <a:solidFill>
            <a:srgbClr val="E6F0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720109" y="4046220"/>
            <a:ext cx="2002589" cy="411480"/>
          </a:xfrm>
          <a:prstGeom prst="roundRect">
            <a:avLst>
              <a:gd fmla="val 16667" name="adj"/>
            </a:avLst>
          </a:prstGeom>
          <a:solidFill>
            <a:srgbClr val="D8EBFF"/>
          </a:solidFill>
          <a:ln cap="flat" cmpd="sng" w="13950">
            <a:solidFill>
              <a:srgbClr val="0D4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005179" y="1440180"/>
            <a:ext cx="877847" cy="4937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748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real path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x₁ … xₜ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005179" y="2852928"/>
            <a:ext cx="877847" cy="493776"/>
          </a:xfrm>
          <a:prstGeom prst="roundRect">
            <a:avLst>
              <a:gd fmla="val 16667" name="adj"/>
            </a:avLst>
          </a:prstGeom>
          <a:solidFill>
            <a:srgbClr val="FFF8DA"/>
          </a:solidFill>
          <a:ln cap="flat" cmpd="sng" w="13950">
            <a:solidFill>
              <a:srgbClr val="F4D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branch path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x₁ … aₜ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177928" y="1440180"/>
            <a:ext cx="1131600" cy="4937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zᵀ(real)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zᴰ(real)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177928" y="2852928"/>
            <a:ext cx="1131600" cy="4937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zᵀ(branch)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zᴰ(branch)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338256" y="2297430"/>
            <a:ext cx="1337346" cy="603504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13950">
            <a:solidFill>
              <a:srgbClr val="9DB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match centered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logit movement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012037" y="3943350"/>
            <a:ext cx="2674691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Branch if: aₜ ≠ bₜ and aₜ ∈ TopKᵀ(t)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012037" y="4354830"/>
            <a:ext cx="4046328" cy="35661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Lbranch = MSE( Δzᴰ , Δzᵀ 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where Δz = center(z(branch)) − center(z(real))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/>
          <p:nvPr/>
        </p:nvSpPr>
        <p:spPr>
          <a:xfrm>
            <a:off x="6652437" y="150876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DDEBFF"/>
                </a:solidFill>
                <a:latin typeface="Arial"/>
                <a:ea typeface="Arial"/>
                <a:cs typeface="Arial"/>
                <a:sym typeface="Arial"/>
              </a:rPr>
              <a:t>SmolVLM EAGLE3 methods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9"/>
          <p:cNvCxnSpPr/>
          <p:nvPr/>
        </p:nvCxnSpPr>
        <p:spPr>
          <a:xfrm>
            <a:off x="377200" y="4924044"/>
            <a:ext cx="8366983" cy="0"/>
          </a:xfrm>
          <a:prstGeom prst="straightConnector1">
            <a:avLst/>
          </a:prstGeom>
          <a:noFill/>
          <a:ln cap="flat" cmpd="sng" w="17775">
            <a:solidFill>
              <a:srgbClr val="082D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9"/>
          <p:cNvCxnSpPr/>
          <p:nvPr/>
        </p:nvCxnSpPr>
        <p:spPr>
          <a:xfrm>
            <a:off x="1714546" y="1748790"/>
            <a:ext cx="1028727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19"/>
          <p:cNvCxnSpPr/>
          <p:nvPr/>
        </p:nvCxnSpPr>
        <p:spPr>
          <a:xfrm>
            <a:off x="1714546" y="2811780"/>
            <a:ext cx="1028727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19"/>
          <p:cNvCxnSpPr/>
          <p:nvPr/>
        </p:nvCxnSpPr>
        <p:spPr>
          <a:xfrm>
            <a:off x="1714546" y="3874770"/>
            <a:ext cx="1028727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19"/>
          <p:cNvCxnSpPr/>
          <p:nvPr/>
        </p:nvCxnSpPr>
        <p:spPr>
          <a:xfrm>
            <a:off x="3737710" y="2777490"/>
            <a:ext cx="699535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19"/>
          <p:cNvCxnSpPr/>
          <p:nvPr/>
        </p:nvCxnSpPr>
        <p:spPr>
          <a:xfrm>
            <a:off x="5383674" y="2777490"/>
            <a:ext cx="720109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19"/>
          <p:cNvCxnSpPr/>
          <p:nvPr/>
        </p:nvCxnSpPr>
        <p:spPr>
          <a:xfrm flipH="1" rot="10800000">
            <a:off x="6858183" y="1892808"/>
            <a:ext cx="720109" cy="425196"/>
          </a:xfrm>
          <a:prstGeom prst="straightConnector1">
            <a:avLst/>
          </a:prstGeom>
          <a:noFill/>
          <a:ln cap="flat" cmpd="sng" w="177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19"/>
          <p:cNvCxnSpPr/>
          <p:nvPr/>
        </p:nvCxnSpPr>
        <p:spPr>
          <a:xfrm>
            <a:off x="6858183" y="2777490"/>
            <a:ext cx="720109" cy="0"/>
          </a:xfrm>
          <a:prstGeom prst="straightConnector1">
            <a:avLst/>
          </a:prstGeom>
          <a:noFill/>
          <a:ln cap="flat" cmpd="sng" w="177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6858183" y="3236976"/>
            <a:ext cx="720109" cy="425196"/>
          </a:xfrm>
          <a:prstGeom prst="straightConnector1">
            <a:avLst/>
          </a:prstGeom>
          <a:noFill/>
          <a:ln cap="flat" cmpd="sng" w="17775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19"/>
          <p:cNvSpPr/>
          <p:nvPr/>
        </p:nvSpPr>
        <p:spPr>
          <a:xfrm>
            <a:off x="514364" y="1234440"/>
            <a:ext cx="1200182" cy="31272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39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651527" y="1405890"/>
            <a:ext cx="925855" cy="432054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3950">
            <a:solidFill>
              <a:srgbClr val="B8C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one tile: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64 visual rows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13251" y="2023110"/>
            <a:ext cx="788691" cy="219456"/>
          </a:xfrm>
          <a:prstGeom prst="roundRect">
            <a:avLst>
              <a:gd fmla="val 16667" name="adj"/>
            </a:avLst>
          </a:prstGeom>
          <a:solidFill>
            <a:srgbClr val="FFF3CA"/>
          </a:solidFill>
          <a:ln cap="flat" cmpd="sng" w="13950">
            <a:solidFill>
              <a:srgbClr val="CB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row 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13251" y="2352294"/>
            <a:ext cx="788691" cy="219456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3950">
            <a:solidFill>
              <a:srgbClr val="CB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row 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13251" y="2681478"/>
            <a:ext cx="788691" cy="219456"/>
          </a:xfrm>
          <a:prstGeom prst="roundRect">
            <a:avLst>
              <a:gd fmla="val 16667" name="adj"/>
            </a:avLst>
          </a:prstGeom>
          <a:solidFill>
            <a:srgbClr val="E7F5D8"/>
          </a:solidFill>
          <a:ln cap="flat" cmpd="sng" w="13950">
            <a:solidFill>
              <a:srgbClr val="CB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row 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13251" y="3010662"/>
            <a:ext cx="788691" cy="219456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13950">
            <a:solidFill>
              <a:srgbClr val="CB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row 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13251" y="3339846"/>
            <a:ext cx="788691" cy="219456"/>
          </a:xfrm>
          <a:prstGeom prst="roundRect">
            <a:avLst>
              <a:gd fmla="val 16667" name="adj"/>
            </a:avLst>
          </a:prstGeom>
          <a:solidFill>
            <a:srgbClr val="FDE8D9"/>
          </a:solidFill>
          <a:ln cap="flat" cmpd="sng" w="13950">
            <a:solidFill>
              <a:srgbClr val="CB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row 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87578" y="3703320"/>
            <a:ext cx="1714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89804" y="4128516"/>
            <a:ext cx="104244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Htile: [B,T,64,n,H]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756989" y="2468880"/>
            <a:ext cx="857273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mixture ρ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437244" y="2180844"/>
            <a:ext cx="905280" cy="1179576"/>
          </a:xfrm>
          <a:prstGeom prst="roundRect">
            <a:avLst>
              <a:gd fmla="val 16667" name="adj"/>
            </a:avLst>
          </a:prstGeom>
          <a:solidFill>
            <a:srgbClr val="FFF3CA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learned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queries Q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+ tile emb gₜ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117499" y="2386584"/>
            <a:ext cx="685818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A ∈ ℝᵏ×⁶⁴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578292" y="1687068"/>
            <a:ext cx="877847" cy="37719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Cearly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[B,T,k,H]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578292" y="2592324"/>
            <a:ext cx="877847" cy="377190"/>
          </a:xfrm>
          <a:prstGeom prst="roundRect">
            <a:avLst>
              <a:gd fmla="val 16667" name="adj"/>
            </a:avLst>
          </a:prstGeom>
          <a:solidFill>
            <a:srgbClr val="49A300"/>
          </a:solidFill>
          <a:ln cap="flat" cmpd="sng" w="13950">
            <a:solidFill>
              <a:srgbClr val="49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Cmid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[B,T,k,H]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578292" y="3483864"/>
            <a:ext cx="877847" cy="377190"/>
          </a:xfrm>
          <a:prstGeom prst="roundRect">
            <a:avLst>
              <a:gd fmla="val 16667" name="adj"/>
            </a:avLst>
          </a:prstGeom>
          <a:solidFill>
            <a:srgbClr val="E87817"/>
          </a:solidFill>
          <a:ln cap="flat" cmpd="sng" w="13950">
            <a:solidFill>
              <a:srgbClr val="E87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Clate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[B,T,k,H]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383674" y="3483864"/>
            <a:ext cx="12687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same A applied to every aux stream; no value projection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640400" y="3922776"/>
            <a:ext cx="3099899" cy="411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64T image rows → kT summary rows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text rows + grid markers unchanged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640400" y="4443984"/>
            <a:ext cx="4286364" cy="233172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slot convention: k=1 → row 32;  k=4 → rows 8, 24, 40, 56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6652437" y="150876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DDEBFF"/>
                </a:solidFill>
                <a:latin typeface="Arial"/>
                <a:ea typeface="Arial"/>
                <a:cs typeface="Arial"/>
                <a:sym typeface="Arial"/>
              </a:rPr>
              <a:t>SmolVLM EAGLE3 methods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377200" y="4924044"/>
            <a:ext cx="8366983" cy="0"/>
          </a:xfrm>
          <a:prstGeom prst="straightConnector1">
            <a:avLst/>
          </a:prstGeom>
          <a:noFill/>
          <a:ln cap="flat" cmpd="sng" w="17775">
            <a:solidFill>
              <a:srgbClr val="082D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1975157" y="1577340"/>
            <a:ext cx="905280" cy="0"/>
          </a:xfrm>
          <a:prstGeom prst="straightConnector1">
            <a:avLst/>
          </a:prstGeom>
          <a:noFill/>
          <a:ln cap="flat" cmpd="sng" w="2030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20"/>
          <p:cNvCxnSpPr/>
          <p:nvPr/>
        </p:nvCxnSpPr>
        <p:spPr>
          <a:xfrm>
            <a:off x="1975157" y="3257550"/>
            <a:ext cx="905280" cy="0"/>
          </a:xfrm>
          <a:prstGeom prst="straightConnector1">
            <a:avLst/>
          </a:prstGeom>
          <a:noFill/>
          <a:ln cap="flat" cmpd="sng" w="20300">
            <a:solidFill>
              <a:srgbClr val="2F69B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758284" y="1577340"/>
            <a:ext cx="644669" cy="514350"/>
          </a:xfrm>
          <a:prstGeom prst="straightConnector1">
            <a:avLst/>
          </a:prstGeom>
          <a:noFill/>
          <a:ln cap="flat" cmpd="sng" w="190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20"/>
          <p:cNvCxnSpPr/>
          <p:nvPr/>
        </p:nvCxnSpPr>
        <p:spPr>
          <a:xfrm flipH="1" rot="10800000">
            <a:off x="3758284" y="2743200"/>
            <a:ext cx="644669" cy="514350"/>
          </a:xfrm>
          <a:prstGeom prst="straightConnector1">
            <a:avLst/>
          </a:prstGeom>
          <a:noFill/>
          <a:ln cap="flat" cmpd="sng" w="190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5225935" y="2400300"/>
            <a:ext cx="637811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p20"/>
          <p:cNvCxnSpPr/>
          <p:nvPr/>
        </p:nvCxnSpPr>
        <p:spPr>
          <a:xfrm>
            <a:off x="6755310" y="2400300"/>
            <a:ext cx="617236" cy="0"/>
          </a:xfrm>
          <a:prstGeom prst="straightConnector1">
            <a:avLst/>
          </a:prstGeom>
          <a:noFill/>
          <a:ln cap="flat" cmpd="sng" w="2285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20"/>
          <p:cNvSpPr/>
          <p:nvPr/>
        </p:nvSpPr>
        <p:spPr>
          <a:xfrm>
            <a:off x="617236" y="1303020"/>
            <a:ext cx="1337346" cy="562356"/>
          </a:xfrm>
          <a:prstGeom prst="roundRect">
            <a:avLst>
              <a:gd fmla="val 16667" name="adj"/>
            </a:avLst>
          </a:prstGeom>
          <a:solidFill>
            <a:srgbClr val="E6F0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frozen target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text query → image rows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17236" y="2983230"/>
            <a:ext cx="1337346" cy="562356"/>
          </a:xfrm>
          <a:prstGeom prst="roundRect">
            <a:avLst>
              <a:gd fmla="val 16667" name="adj"/>
            </a:avLst>
          </a:prstGeom>
          <a:solidFill>
            <a:srgbClr val="FFF3CA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compressor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query routing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880437" y="1289304"/>
            <a:ext cx="857273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Āᵀ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target visual attention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880437" y="2969514"/>
            <a:ext cx="857273" cy="5623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Āᶜ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compressor routing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629273" y="1721358"/>
            <a:ext cx="82298" cy="123444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4629273" y="3435858"/>
            <a:ext cx="82298" cy="96012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4752721" y="1652778"/>
            <a:ext cx="82298" cy="192024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752721" y="3353562"/>
            <a:ext cx="82298" cy="178308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876168" y="1467612"/>
            <a:ext cx="82298" cy="377190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4876168" y="3202686"/>
            <a:ext cx="82298" cy="329184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999615" y="1693926"/>
            <a:ext cx="82298" cy="150876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4999615" y="3326130"/>
            <a:ext cx="82298" cy="205740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123063" y="1556766"/>
            <a:ext cx="82298" cy="288036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123063" y="3271266"/>
            <a:ext cx="82298" cy="260604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246510" y="1735074"/>
            <a:ext cx="82298" cy="109728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246510" y="3394710"/>
            <a:ext cx="82298" cy="137160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369957" y="1625346"/>
            <a:ext cx="82298" cy="219456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369957" y="3332988"/>
            <a:ext cx="82298" cy="198882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493404" y="1707642"/>
            <a:ext cx="82298" cy="137160"/>
          </a:xfrm>
          <a:prstGeom prst="rect">
            <a:avLst/>
          </a:prstGeom>
          <a:solidFill>
            <a:srgbClr val="2F69B1"/>
          </a:solidFill>
          <a:ln cap="flat" cmpd="sng" w="1270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493404" y="3408426"/>
            <a:ext cx="82298" cy="123444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409812" y="2167128"/>
            <a:ext cx="754400" cy="48006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13950">
            <a:solidFill>
              <a:srgbClr val="9DB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863746" y="2057400"/>
            <a:ext cx="925855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9DB0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KL(Āᵀ || Āᶜ)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or MSE(Āᵀ, Āᶜ)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372547" y="2057400"/>
            <a:ext cx="994437" cy="685800"/>
          </a:xfrm>
          <a:prstGeom prst="roundRect">
            <a:avLst>
              <a:gd fmla="val 16667" name="adj"/>
            </a:avLst>
          </a:prstGeom>
          <a:solidFill>
            <a:srgbClr val="F0F6EA"/>
          </a:solidFill>
          <a:ln cap="flat" cmpd="sng" w="13950">
            <a:solidFill>
              <a:srgbClr val="17A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optional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auxiliary loss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371637" y="3991356"/>
            <a:ext cx="6138074" cy="3771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Goal: make the learned summaries emphasize the image rows the frozen target actually reads.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371637" y="4491990"/>
            <a:ext cx="5898037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Status note: kept as an optional routing prior; the clean implemented branches use CE and branch loss.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308618" y="89154"/>
            <a:ext cx="3291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(7) Solution(s)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>
            <a:off x="377200" y="4924044"/>
            <a:ext cx="8366983" cy="0"/>
          </a:xfrm>
          <a:prstGeom prst="straightConnector1">
            <a:avLst/>
          </a:prstGeom>
          <a:noFill/>
          <a:ln cap="flat" cmpd="sng" w="17775">
            <a:solidFill>
              <a:srgbClr val="082D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1"/>
          <p:cNvCxnSpPr/>
          <p:nvPr/>
        </p:nvCxnSpPr>
        <p:spPr>
          <a:xfrm>
            <a:off x="1474509" y="2057400"/>
            <a:ext cx="582946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21"/>
          <p:cNvCxnSpPr/>
          <p:nvPr/>
        </p:nvCxnSpPr>
        <p:spPr>
          <a:xfrm>
            <a:off x="2935302" y="2057400"/>
            <a:ext cx="562371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4375521" y="2057400"/>
            <a:ext cx="562371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21"/>
          <p:cNvCxnSpPr/>
          <p:nvPr/>
        </p:nvCxnSpPr>
        <p:spPr>
          <a:xfrm>
            <a:off x="5815739" y="2057400"/>
            <a:ext cx="562371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7255957" y="2057400"/>
            <a:ext cx="562371" cy="0"/>
          </a:xfrm>
          <a:prstGeom prst="straightConnector1">
            <a:avLst/>
          </a:prstGeom>
          <a:noFill/>
          <a:ln cap="flat" cmpd="sng" w="20300">
            <a:solidFill>
              <a:srgbClr val="10213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21"/>
          <p:cNvSpPr/>
          <p:nvPr/>
        </p:nvSpPr>
        <p:spPr>
          <a:xfrm>
            <a:off x="493789" y="1618488"/>
            <a:ext cx="980720" cy="877824"/>
          </a:xfrm>
          <a:prstGeom prst="roundRect">
            <a:avLst>
              <a:gd fmla="val 16667" name="adj"/>
            </a:avLst>
          </a:prstGeom>
          <a:solidFill>
            <a:srgbClr val="E6F0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Frozen target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produces HS + logits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057455" y="1618488"/>
            <a:ext cx="877847" cy="877824"/>
          </a:xfrm>
          <a:prstGeom prst="roundRect">
            <a:avLst>
              <a:gd fmla="val 16667" name="adj"/>
            </a:avLst>
          </a:prstGeom>
          <a:solidFill>
            <a:srgbClr val="FFF3CA"/>
          </a:solidFill>
          <a:ln cap="flat" cmpd="sng" w="139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Band mix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learns useful depth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3497673" y="1618488"/>
            <a:ext cx="877847" cy="8778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2F6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Visual row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compression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4937892" y="1618488"/>
            <a:ext cx="877847" cy="877824"/>
          </a:xfrm>
          <a:prstGeom prst="roundRect">
            <a:avLst>
              <a:gd fmla="val 16667" name="adj"/>
            </a:avLst>
          </a:prstGeom>
          <a:solidFill>
            <a:srgbClr val="FFF8DA"/>
          </a:solidFill>
          <a:ln cap="flat" cmpd="sng" w="13950">
            <a:solidFill>
              <a:srgbClr val="F4D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Branch loss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teaches sensitivity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378110" y="1618488"/>
            <a:ext cx="877847" cy="877824"/>
          </a:xfrm>
          <a:prstGeom prst="roundRect">
            <a:avLst>
              <a:gd fmla="val 16667" name="adj"/>
            </a:avLst>
          </a:prstGeom>
          <a:solidFill>
            <a:srgbClr val="F0F6EA"/>
          </a:solidFill>
          <a:ln cap="flat" cmpd="sng" w="13950">
            <a:solidFill>
              <a:srgbClr val="17A9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Optional attn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routing prior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7818328" y="1618488"/>
            <a:ext cx="877847" cy="877824"/>
          </a:xfrm>
          <a:prstGeom prst="roundRect">
            <a:avLst>
              <a:gd fmla="val 16667" name="adj"/>
            </a:avLst>
          </a:prstGeom>
          <a:solidFill>
            <a:srgbClr val="E8F1FF"/>
          </a:solidFill>
          <a:ln cap="flat" cmpd="sng" w="13950">
            <a:solidFill>
              <a:srgbClr val="0D4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Spec decode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verify with target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85818" y="3086100"/>
            <a:ext cx="1508800" cy="301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Training objective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228909" y="3003804"/>
            <a:ext cx="2949019" cy="44577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L = LCE + λbranch Lbranch + λattn Lattn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5417964" y="2866644"/>
            <a:ext cx="2880437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Inference shape stays EAGLE-like: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compressed / fused target streams feed the drafter, while the full target still verifies.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85818" y="4114800"/>
            <a:ext cx="7269674" cy="4251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3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0213B"/>
                </a:solidFill>
                <a:latin typeface="Arial"/>
                <a:ea typeface="Arial"/>
                <a:cs typeface="Arial"/>
                <a:sym typeface="Arial"/>
              </a:rPr>
              <a:t>What changed from the drafts: concrete aux layers, centered-delta branch objective, shared routing over all hidden-state streams, and attention matching marked optional.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